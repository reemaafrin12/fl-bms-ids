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docProps/core1.xml" ContentType="application/vnd.openxmlformats-package.core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1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7" r:id="rId10"/>
    <p:sldId id="268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Click to edit the notes format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466F338-53AC-48D4-9132-ABF5B819C2CE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C24CE18-39AB-4B49-84BC-A439EC985676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FA244FD-F9D7-4953-90AF-8D20180D25B7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AA1EEE9-65EB-42FD-9406-7938B5F15C49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pPr indent="0">
                <a:lnSpc>
                  <a:spcPct val="100000"/>
                </a:lnSpc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8/24/2026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 Computer Applications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599C067-1FFB-44C4-AB8B-CDA26125A70F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3"/>
          <p:cNvSpPr/>
          <p:nvPr/>
        </p:nvSpPr>
        <p:spPr>
          <a:xfrm>
            <a:off x="30240" y="1158840"/>
            <a:ext cx="9144000" cy="5562720"/>
          </a:xfrm>
          <a:prstGeom prst="rect">
            <a:avLst/>
          </a:prstGeom>
          <a:blipFill rotWithShape="0">
            <a:blip r:embed="rId2" cstate="print">
              <a:alphaModFix amt="40000"/>
            </a:blip>
            <a:srcRect/>
            <a:stretch/>
          </a:blipFill>
          <a:ln w="25560">
            <a:solidFill>
              <a:srgbClr val="385D8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2720880"/>
            <a:ext cx="7772400" cy="147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dirty="0" smtClean="0"/>
              <a:t>A Federated Learning Framework for Explainable and Privacy-Preserving Intrusion Detection in Battery Management Systems</a:t>
            </a:r>
            <a:endParaRPr lang="en-US" sz="24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1828800" y="4190760"/>
            <a:ext cx="64008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mbria"/>
              </a:rPr>
              <a:t>Reema Afrin N (2503917762222026)  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Cambria"/>
              </a:rPr>
              <a:t>  </a:t>
            </a:r>
          </a:p>
          <a:p>
            <a:pPr indent="0" algn="ctr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 err="1" smtClean="0">
                <a:solidFill>
                  <a:srgbClr val="000000"/>
                </a:solidFill>
                <a:latin typeface="Cambria"/>
              </a:rPr>
              <a:t>Lakshitha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Cambria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Cambria"/>
              </a:rPr>
              <a:t>A (2503917762222019)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Cambria"/>
              </a:rPr>
              <a:t>Type of the project: Research 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5" name="Group 6"/>
          <p:cNvGrpSpPr/>
          <p:nvPr/>
        </p:nvGrpSpPr>
        <p:grpSpPr>
          <a:xfrm>
            <a:off x="22320" y="152280"/>
            <a:ext cx="7902360" cy="981000"/>
            <a:chOff x="22320" y="152280"/>
            <a:chExt cx="7902360" cy="981000"/>
          </a:xfrm>
        </p:grpSpPr>
        <p:pic>
          <p:nvPicPr>
            <p:cNvPr id="16" name="Picture 1" descr="Description: Description: tce_logo.png"/>
            <p:cNvPicPr/>
            <p:nvPr/>
          </p:nvPicPr>
          <p:blipFill>
            <a:blip r:embed="rId3" cstate="print"/>
            <a:srcRect b="2901"/>
            <a:stretch/>
          </p:blipFill>
          <p:spPr>
            <a:xfrm>
              <a:off x="22320" y="152280"/>
              <a:ext cx="983160" cy="914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" name="Rectangle 4"/>
            <p:cNvSpPr/>
            <p:nvPr/>
          </p:nvSpPr>
          <p:spPr>
            <a:xfrm>
              <a:off x="838440" y="155160"/>
              <a:ext cx="7086240" cy="97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Cambria"/>
                  <a:ea typeface="Calibri"/>
                </a:rPr>
                <a:t>THIAGARAJAR COLLEGE OF ENGINEERING, MADURAI-15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Cambria"/>
                  <a:ea typeface="Calibri"/>
                </a:rPr>
                <a:t>(A Govt. Aided Autonomous Institution affiliated to Anna University)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i="1" strike="noStrike" spc="-1">
                  <a:solidFill>
                    <a:srgbClr val="000000"/>
                  </a:solidFill>
                  <a:latin typeface="Cambria"/>
                  <a:ea typeface="Calibri"/>
                </a:rPr>
                <a:t>                            - where quality and ethics matter</a:t>
              </a:r>
              <a:r>
                <a:rPr lang="en-US" sz="2000" b="0" strike="noStrike" spc="-1">
                  <a:solidFill>
                    <a:srgbClr val="000000"/>
                  </a:solidFill>
                  <a:latin typeface="Cambria"/>
                  <a:ea typeface="Calibri"/>
                </a:rPr>
                <a:t> 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" name="Straight Connector 9"/>
          <p:cNvSpPr/>
          <p:nvPr/>
        </p:nvSpPr>
        <p:spPr>
          <a:xfrm>
            <a:off x="0" y="1295280"/>
            <a:ext cx="9144000" cy="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Date Placeholder 4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Footer Placeholder 7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 Computer Applications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lide Number Placeholder 8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53D871A-0004-4AE8-845F-1A9C36086B66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Arial"/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Calibri"/>
              </a:rPr>
              <a:t>Research </a:t>
            </a: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area identified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268760"/>
            <a:ext cx="8229600" cy="453650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Research area: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Cybersecurity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– Federated Learning for </a:t>
            </a:r>
            <a:r>
              <a:rPr lang="en-US" sz="2800" b="0" strike="noStrike" spc="-1" dirty="0" err="1" smtClean="0">
                <a:solidFill>
                  <a:srgbClr val="000000"/>
                </a:solidFill>
                <a:latin typeface="Calibri"/>
              </a:rPr>
              <a:t>IoT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Calibri"/>
              </a:rPr>
              <a:t>/BLE</a:t>
            </a:r>
            <a:r>
              <a:rPr lang="en-US" sz="2600" b="0" strike="noStrike" spc="-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Bluetooth Low Energy)</a:t>
            </a:r>
            <a:r>
              <a:rPr lang="en-US" sz="2600" b="0" strike="noStrike" spc="-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-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Calibri"/>
              </a:rPr>
              <a:t>based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device 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Calibri"/>
              </a:rPr>
              <a:t>security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dirty="0" smtClean="0">
                <a:latin typeface="Calibri" pitchFamily="34" charset="0"/>
                <a:cs typeface="Calibri" pitchFamily="34" charset="0"/>
              </a:rPr>
              <a:t>BMS Security + Federated Learning + Privacy Protection + Explainable AI</a:t>
            </a:r>
            <a:endParaRPr lang="en-US" sz="2600" b="0" strike="noStrike" spc="-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Specific research area: Privacy-preserving intrusion detection for Battery Management 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Calibri"/>
              </a:rPr>
              <a:t>Systems(BMS),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motivated by recent unauthorized-access incidents on Bluetooth-enabled EV battery packs in India</a:t>
            </a:r>
          </a:p>
        </p:txBody>
      </p:sp>
      <p:sp>
        <p:nvSpPr>
          <p:cNvPr id="24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 Computer Applications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D1F31B0-25CD-4764-A0C8-CF554CE12C67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Arial"/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Problem Statement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dirty="0" smtClean="0">
                <a:latin typeface="Calibri" pitchFamily="34" charset="0"/>
                <a:cs typeface="Calibri" pitchFamily="34" charset="0"/>
              </a:rPr>
              <a:t>Some BLE(Bluetooth Low Energy)-enabled BMS(</a:t>
            </a:r>
            <a:r>
              <a:rPr lang="en-US" sz="2400" spc="-1" dirty="0">
                <a:solidFill>
                  <a:srgbClr val="000000"/>
                </a:solidFill>
                <a:latin typeface="Calibri"/>
              </a:rPr>
              <a:t>Battery Management </a:t>
            </a:r>
            <a:r>
              <a:rPr lang="en-US" sz="26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systems) used in low-cost Electric Vehicles have been reported with weak or default authentication, allowing unauthorized users within Bluetooth range to access critical functions</a:t>
            </a:r>
            <a:r>
              <a:rPr lang="en-US" sz="2600" b="0" strike="noStrike" spc="-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letting anyone nearby disable or hijack the battery, as seen in recent e-rickshaw hacking incidents in India. Centralized intrusion detection would require fleet operators to share raw data, which conflicts with the 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DPDP(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Digital Personal Data Protection Act)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Act and </a:t>
            </a:r>
            <a:r>
              <a:rPr lang="en-US" sz="2600" b="0" strike="noStrike" spc="-1" dirty="0" smtClean="0">
                <a:solidFill>
                  <a:srgbClr val="000000"/>
                </a:solidFill>
                <a:latin typeface="Calibri"/>
              </a:rPr>
              <a:t>GDPR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General Data Protection Regulation)</a:t>
            </a:r>
            <a:r>
              <a:rPr lang="en-US" sz="2600" b="0" strike="noStrike" spc="-1" dirty="0" smtClean="0">
                <a:solidFill>
                  <a:srgbClr val="000000"/>
                </a:solidFill>
                <a:latin typeface="Calibri"/>
              </a:rPr>
              <a:t>. 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Fleet operators and e-vehicle manufacturers need a way to detect such unauthorized access collaboratively, without exposing their raw operational data.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 Computer Applications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18593D8-F56B-4389-9A72-9BF57A4E3D4E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Arial"/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Objectives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196752"/>
            <a:ext cx="8229600" cy="492936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To design a federated learning architecture that simulates multiple decentralized fleet-operator clients for BMS intrusion detection. </a:t>
            </a: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To implement a lightweight intrusion-detection model for identifying anomalous network </a:t>
            </a:r>
            <a:r>
              <a:rPr lang="en-US" sz="2400" dirty="0" err="1" smtClean="0">
                <a:latin typeface="Cambria" pitchFamily="18" charset="0"/>
                <a:ea typeface="Cambria" pitchFamily="18" charset="0"/>
              </a:rPr>
              <a:t>behaviour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 relevant to BLE-enabled BMS environments. </a:t>
            </a: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To evaluate centralized, local and federated models using accuracy, precision, recall and F1-score while analyzing data-locality and privacy trade-offs.</a:t>
            </a: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 To integrate Explainable AI using SHAP to identify the features contributing to intrusion-detection decisions and improve operator understanding.</a:t>
            </a:r>
            <a:endParaRPr lang="en-US" sz="2400" strike="noStrike" spc="-1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4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 Computer Applications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FB88328-7D18-43E5-B0E9-475392CAEEA0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Arial"/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Tools and Technologies used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Python (Pandas, </a:t>
            </a: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</a:rPr>
              <a:t>Scikit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-learn) – dataset preprocessing and the local intrusion-detection classifier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Flower (</a:t>
            </a: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</a:rPr>
              <a:t>flwr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) framework – simulating federated clients and </a:t>
            </a: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</a:rPr>
              <a:t>FedAvg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 aggregation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MERN Stack (</a:t>
            </a: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</a:rPr>
              <a:t>MongoDB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, Express.js, React.js, Node.js) – web dashboard to display fleet-wise intrusion alerts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Public </a:t>
            </a: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</a:rPr>
              <a:t>IoT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 intrusion datasets – CICIoT2023 / N-</a:t>
            </a: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</a:rPr>
              <a:t>BaIoT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 (used as a proxy for BMS network traffic</a:t>
            </a:r>
            <a:r>
              <a:rPr lang="en-US" sz="2600" b="0" strike="noStrike" spc="-1" dirty="0" smtClean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dirty="0" smtClean="0">
                <a:latin typeface="Calibri" pitchFamily="34" charset="0"/>
                <a:cs typeface="Calibri" pitchFamily="34" charset="0"/>
              </a:rPr>
              <a:t>SHAP – Explainable AI and feature contribution analysis</a:t>
            </a:r>
            <a:endParaRPr lang="en-US" sz="2600" b="0" strike="noStrike" spc="-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</a:rPr>
              <a:t>GitHub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 – version control and collaboration between team members</a:t>
            </a:r>
          </a:p>
        </p:txBody>
      </p:sp>
      <p:sp>
        <p:nvSpPr>
          <p:cNvPr id="39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 Computer Applications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AA3E6D3-4618-4AD0-B2CD-670E9FF1F171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Arial"/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699792" y="274320"/>
            <a:ext cx="3600400" cy="34636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Literature survey (5 Recent Papers)</a:t>
            </a:r>
          </a:p>
        </p:txBody>
      </p:sp>
      <p:graphicFrame>
        <p:nvGraphicFramePr>
          <p:cNvPr id="43" name="Table 42"/>
          <p:cNvGraphicFramePr/>
          <p:nvPr/>
        </p:nvGraphicFramePr>
        <p:xfrm>
          <a:off x="251520" y="620688"/>
          <a:ext cx="8507289" cy="5882640"/>
        </p:xfrm>
        <a:graphic>
          <a:graphicData uri="http://schemas.openxmlformats.org/drawingml/2006/table">
            <a:tbl>
              <a:tblPr/>
              <a:tblGrid>
                <a:gridCol w="2793945"/>
                <a:gridCol w="1459893"/>
                <a:gridCol w="580529"/>
                <a:gridCol w="3672922"/>
              </a:tblGrid>
              <a:tr h="8640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Title of the paper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Journal name and  year of publication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Q1/Q2/Q3/Q4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Inference of the paper (bulleted points)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22148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FL-IDS: Federated Learning-Based Intrusion Detection in </a:t>
                      </a:r>
                      <a:r>
                        <a:rPr lang="en-US" sz="1200" dirty="0" err="1" smtClean="0"/>
                        <a:t>IoT</a:t>
                      </a:r>
                      <a:r>
                        <a:rPr lang="en-US" sz="1200" dirty="0" smtClean="0"/>
                        <a:t> Networks — Performance Evaluation and Data Scaling Study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Journal of Sensor and Actuator Networks (JSAN), 2025, 14(4), 78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Q2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Used </a:t>
                      </a:r>
                      <a:r>
                        <a:rPr lang="en-US" sz="1200" b="1" dirty="0" smtClean="0"/>
                        <a:t>Federated Learning</a:t>
                      </a:r>
                      <a:r>
                        <a:rPr lang="en-US" sz="1200" dirty="0" smtClean="0"/>
                        <a:t> for intrusion detection in </a:t>
                      </a:r>
                      <a:r>
                        <a:rPr lang="en-US" sz="1200" dirty="0" err="1" smtClean="0"/>
                        <a:t>IoT</a:t>
                      </a:r>
                      <a:r>
                        <a:rPr lang="en-US" sz="1200" dirty="0" smtClean="0"/>
                        <a:t> networks.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Tested </a:t>
                      </a:r>
                      <a:r>
                        <a:rPr lang="en-US" sz="1200" b="1" dirty="0" smtClean="0"/>
                        <a:t>DNN, CNN and </a:t>
                      </a:r>
                      <a:r>
                        <a:rPr lang="en-US" sz="1200" b="1" dirty="0" err="1" smtClean="0"/>
                        <a:t>BiLSTM</a:t>
                      </a:r>
                      <a:r>
                        <a:rPr lang="en-US" sz="1200" dirty="0" smtClean="0"/>
                        <a:t> models.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Used the </a:t>
                      </a:r>
                      <a:r>
                        <a:rPr lang="en-US" sz="1200" b="1" dirty="0" smtClean="0"/>
                        <a:t>CICIoT2023 dataset</a:t>
                      </a:r>
                      <a:r>
                        <a:rPr lang="en-US" sz="1200" dirty="0" smtClean="0"/>
                        <a:t> with many FL clients.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Studied how increasing the </a:t>
                      </a:r>
                      <a:r>
                        <a:rPr lang="en-US" sz="1200" b="1" dirty="0" smtClean="0"/>
                        <a:t>number of clients and data size</a:t>
                      </a:r>
                      <a:r>
                        <a:rPr lang="en-US" sz="1200" dirty="0" smtClean="0"/>
                        <a:t> affects performance.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Found that </a:t>
                      </a:r>
                      <a:r>
                        <a:rPr lang="en-US" sz="1200" b="1" dirty="0" smtClean="0"/>
                        <a:t>CNN gives a good balance between accuracy and computation</a:t>
                      </a:r>
                      <a:r>
                        <a:rPr lang="en-US" sz="12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Shows that FL can be used for </a:t>
                      </a:r>
                      <a:r>
                        <a:rPr lang="en-US" sz="1200" b="1" dirty="0" smtClean="0"/>
                        <a:t>large-scale </a:t>
                      </a:r>
                      <a:r>
                        <a:rPr lang="en-US" sz="1200" b="1" dirty="0" err="1" smtClean="0"/>
                        <a:t>IoT</a:t>
                      </a:r>
                      <a:r>
                        <a:rPr lang="en-US" sz="1200" b="1" dirty="0" smtClean="0"/>
                        <a:t> intrusion detection</a:t>
                      </a:r>
                      <a:r>
                        <a:rPr lang="en-US" sz="12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b="1" dirty="0" smtClean="0"/>
                        <a:t>Relation to our project:</a:t>
                      </a:r>
                      <a:r>
                        <a:rPr lang="en-US" sz="1200" dirty="0" smtClean="0"/>
                        <a:t> We also use CICIoT2023 and multiple simulated fleet clients.</a:t>
                      </a:r>
                      <a:r>
                        <a:rPr lang="en-US" sz="1200" b="0" strike="noStrike" spc="-1" dirty="0" smtClean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23764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Privacy-Preserving Federated Learning for Intrusion Detection in </a:t>
                      </a:r>
                      <a:r>
                        <a:rPr lang="en-US" sz="1200" dirty="0" err="1" smtClean="0"/>
                        <a:t>IoT</a:t>
                      </a:r>
                      <a:r>
                        <a:rPr lang="en-US" sz="1200" dirty="0" smtClean="0"/>
                        <a:t> Environments: A Survey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Journal: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fr-FR" sz="1200" dirty="0" smtClean="0"/>
                        <a:t>IEEE Access, Volume 12, 2024, pages 127018–127050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Q1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Studied how </a:t>
                      </a:r>
                      <a:r>
                        <a:rPr lang="en-US" sz="1200" b="1" dirty="0" smtClean="0"/>
                        <a:t>Federated Learning can protect </a:t>
                      </a:r>
                      <a:r>
                        <a:rPr lang="en-US" sz="1200" b="1" dirty="0" err="1" smtClean="0"/>
                        <a:t>IoT</a:t>
                      </a:r>
                      <a:r>
                        <a:rPr lang="en-US" sz="1200" b="1" dirty="0" smtClean="0"/>
                        <a:t> data privacy</a:t>
                      </a:r>
                      <a:r>
                        <a:rPr lang="en-US" sz="12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Explained that raw data does not need to be shared with a central server.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Discussed privacy techniques such as </a:t>
                      </a:r>
                      <a:r>
                        <a:rPr lang="en-US" sz="1200" b="1" dirty="0" smtClean="0"/>
                        <a:t>Differential Privacy and Secure Aggregation</a:t>
                      </a:r>
                      <a:r>
                        <a:rPr lang="en-US" sz="1200" dirty="0" smtClean="0"/>
                        <a:t>. I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err="1" smtClean="0"/>
                        <a:t>dentified</a:t>
                      </a:r>
                      <a:r>
                        <a:rPr lang="en-US" sz="1200" dirty="0" smtClean="0"/>
                        <a:t> </a:t>
                      </a:r>
                      <a:r>
                        <a:rPr lang="en-US" sz="1200" b="1" dirty="0" smtClean="0"/>
                        <a:t>privacy and security challenges</a:t>
                      </a:r>
                      <a:r>
                        <a:rPr lang="en-US" sz="1200" dirty="0" smtClean="0"/>
                        <a:t> in FL-based IDS.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dirty="0" smtClean="0"/>
                        <a:t>Shows that FL is useful for </a:t>
                      </a:r>
                      <a:r>
                        <a:rPr lang="en-US" sz="1200" b="1" dirty="0" smtClean="0"/>
                        <a:t>privacy-preserving intrusion detection</a:t>
                      </a:r>
                      <a:r>
                        <a:rPr lang="en-US" sz="12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200" b="1" dirty="0" smtClean="0"/>
                        <a:t>Relation to our project:</a:t>
                      </a:r>
                      <a:r>
                        <a:rPr lang="en-US" sz="1200" dirty="0" smtClean="0"/>
                        <a:t> Our project also keeps BMS/fleet data locally and shares model information instead.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44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Footer Placeholder 4"/>
          <p:cNvSpPr/>
          <p:nvPr/>
        </p:nvSpPr>
        <p:spPr>
          <a:xfrm>
            <a:off x="3131840" y="649296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898989"/>
                </a:solidFill>
                <a:latin typeface="Calibri"/>
              </a:rPr>
              <a:t>Department of  Computer Applications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BFE1A94-6D6C-42ED-9EBE-C1A69DDB29EC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Arial"/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/>
          <p:nvPr/>
        </p:nvGraphicFramePr>
        <p:xfrm>
          <a:off x="395536" y="188640"/>
          <a:ext cx="8136904" cy="6530825"/>
        </p:xfrm>
        <a:graphic>
          <a:graphicData uri="http://schemas.openxmlformats.org/drawingml/2006/table">
            <a:tbl>
              <a:tblPr/>
              <a:tblGrid>
                <a:gridCol w="2459466"/>
                <a:gridCol w="1285120"/>
                <a:gridCol w="511030"/>
                <a:gridCol w="3881288"/>
              </a:tblGrid>
              <a:tr h="4766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9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Title of the paper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9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Journal name and  year of publication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9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Q1/Q2/Q3/Q4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9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Inference of the paper (bulleted points)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2089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Robust Intrusion Detection Based on Personalized Federated Learning for </a:t>
                      </a:r>
                      <a:r>
                        <a:rPr lang="en-US" sz="1000" dirty="0" err="1" smtClean="0"/>
                        <a:t>IoT</a:t>
                      </a:r>
                      <a:r>
                        <a:rPr lang="en-US" sz="1000" dirty="0" smtClean="0"/>
                        <a:t> Environment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Journal: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Computers &amp; Security, Volume 154, July 2025, Article 104442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b="0" strike="noStrike" spc="-1" dirty="0" smtClean="0">
                          <a:solidFill>
                            <a:srgbClr val="000000"/>
                          </a:solidFill>
                          <a:latin typeface="Calibri"/>
                        </a:rPr>
                        <a:t>Q1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Focused on the problem of </a:t>
                      </a:r>
                      <a:r>
                        <a:rPr lang="en-US" sz="1000" b="1" dirty="0" smtClean="0"/>
                        <a:t>different data distributions among clients</a:t>
                      </a:r>
                      <a:r>
                        <a:rPr lang="en-US" sz="10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Explained that every </a:t>
                      </a:r>
                      <a:r>
                        <a:rPr lang="en-US" sz="1000" dirty="0" err="1" smtClean="0"/>
                        <a:t>IoT</a:t>
                      </a:r>
                      <a:r>
                        <a:rPr lang="en-US" sz="1000" dirty="0" smtClean="0"/>
                        <a:t> client may have different types of network data.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Used </a:t>
                      </a:r>
                      <a:r>
                        <a:rPr lang="en-US" sz="1000" b="1" dirty="0" smtClean="0"/>
                        <a:t>Personalized Federated Learning</a:t>
                      </a:r>
                      <a:r>
                        <a:rPr lang="en-US" sz="1000" dirty="0" smtClean="0"/>
                        <a:t> to improve detection for different clients.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Helps handle </a:t>
                      </a:r>
                      <a:r>
                        <a:rPr lang="en-US" sz="1000" b="1" dirty="0" smtClean="0"/>
                        <a:t>Non-IID data</a:t>
                      </a:r>
                      <a:r>
                        <a:rPr lang="en-US" sz="1000" dirty="0" smtClean="0"/>
                        <a:t> between clients.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Improves the ability of the IDS to work with </a:t>
                      </a:r>
                      <a:r>
                        <a:rPr lang="en-US" sz="1000" b="1" dirty="0" smtClean="0"/>
                        <a:t>different types of </a:t>
                      </a:r>
                      <a:r>
                        <a:rPr lang="en-US" sz="1000" b="1" dirty="0" err="1" smtClean="0"/>
                        <a:t>IoT</a:t>
                      </a:r>
                      <a:r>
                        <a:rPr lang="en-US" sz="1000" b="1" dirty="0" smtClean="0"/>
                        <a:t> devices</a:t>
                      </a:r>
                      <a:r>
                        <a:rPr lang="en-US" sz="10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b="1" dirty="0" smtClean="0"/>
                        <a:t>Relation to our project:</a:t>
                      </a:r>
                      <a:r>
                        <a:rPr lang="en-US" sz="1000" dirty="0" smtClean="0"/>
                        <a:t> Different EV fleets may produce different BMS data, so this approach can help handle fleet differences.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19693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FD-IDS: Federated Learning with Knowledge Distillation for Intrusion Detection in Non-IID </a:t>
                      </a:r>
                      <a:r>
                        <a:rPr lang="en-US" sz="1000" dirty="0" err="1" smtClean="0"/>
                        <a:t>IoT</a:t>
                      </a:r>
                      <a:r>
                        <a:rPr lang="en-US" sz="1000" dirty="0" smtClean="0"/>
                        <a:t> Environments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Journal: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Sensors, 2025, 25(14), 4309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b="0" strike="noStrike" spc="-1" dirty="0" smtClean="0">
                          <a:solidFill>
                            <a:srgbClr val="000000"/>
                          </a:solidFill>
                          <a:latin typeface="Calibri"/>
                        </a:rPr>
                        <a:t>Q2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Proposed an FL-based IDS for </a:t>
                      </a:r>
                      <a:r>
                        <a:rPr lang="en-US" sz="1000" b="1" dirty="0" smtClean="0"/>
                        <a:t>Non-IID </a:t>
                      </a:r>
                      <a:r>
                        <a:rPr lang="en-US" sz="1000" b="1" dirty="0" err="1" smtClean="0"/>
                        <a:t>IoT</a:t>
                      </a:r>
                      <a:r>
                        <a:rPr lang="en-US" sz="1000" b="1" dirty="0" smtClean="0"/>
                        <a:t> data</a:t>
                      </a:r>
                      <a:r>
                        <a:rPr lang="en-US" sz="1000" dirty="0" smtClean="0"/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 Combined </a:t>
                      </a:r>
                      <a:r>
                        <a:rPr lang="en-US" sz="1000" b="1" dirty="0" smtClean="0"/>
                        <a:t>Federated Learning with Knowledge Distillation</a:t>
                      </a:r>
                      <a:r>
                        <a:rPr lang="en-US" sz="10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Used </a:t>
                      </a:r>
                      <a:r>
                        <a:rPr lang="en-US" sz="1000" b="1" dirty="0" err="1" smtClean="0"/>
                        <a:t>FedProx</a:t>
                      </a:r>
                      <a:r>
                        <a:rPr lang="en-US" sz="1000" dirty="0" smtClean="0"/>
                        <a:t> to reduce differences between local and global models.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 Used </a:t>
                      </a:r>
                      <a:r>
                        <a:rPr lang="en-US" sz="1000" b="1" dirty="0" smtClean="0"/>
                        <a:t>N-</a:t>
                      </a:r>
                      <a:r>
                        <a:rPr lang="en-US" sz="1000" b="1" dirty="0" err="1" smtClean="0"/>
                        <a:t>BaIoT</a:t>
                      </a:r>
                      <a:r>
                        <a:rPr lang="en-US" sz="1000" b="1" dirty="0" smtClean="0"/>
                        <a:t> and Edge-</a:t>
                      </a:r>
                      <a:r>
                        <a:rPr lang="en-US" sz="1000" b="1" dirty="0" err="1" smtClean="0"/>
                        <a:t>IIoT</a:t>
                      </a:r>
                      <a:r>
                        <a:rPr lang="en-US" sz="1000" dirty="0" smtClean="0"/>
                        <a:t> datasets for evaluation.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 Knowledge Distillation helps local models learn useful information from the global model.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Improves intrusion detection when </a:t>
                      </a:r>
                      <a:r>
                        <a:rPr lang="en-US" sz="1000" b="1" dirty="0" smtClean="0"/>
                        <a:t>clients have different data</a:t>
                      </a:r>
                      <a:r>
                        <a:rPr lang="en-US" sz="10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b="1" dirty="0" smtClean="0"/>
                        <a:t>Relation to our project:</a:t>
                      </a:r>
                      <a:r>
                        <a:rPr lang="en-US" sz="1000" dirty="0" smtClean="0"/>
                        <a:t> We use N-</a:t>
                      </a:r>
                      <a:r>
                        <a:rPr lang="en-US" sz="1000" dirty="0" err="1" smtClean="0"/>
                        <a:t>BaIoT</a:t>
                      </a:r>
                      <a:r>
                        <a:rPr lang="en-US" sz="1000" dirty="0" smtClean="0"/>
                        <a:t> and multiple fleet clients, so this approach could be useful for improving our model in future.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1969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A Review of Federated Learning Applications in Intrusion Detection Systems(IDS)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Journal:</a:t>
                      </a:r>
                    </a:p>
                    <a:p>
                      <a:r>
                        <a:rPr lang="en-US" sz="1000" b="1" dirty="0" smtClean="0"/>
                        <a:t>Computer Networks</a:t>
                      </a:r>
                      <a:endParaRPr lang="en-US" sz="1000" dirty="0" smtClean="0"/>
                    </a:p>
                    <a:p>
                      <a:r>
                        <a:rPr lang="en-US" sz="1000" dirty="0" smtClean="0"/>
                        <a:t>Volume 258</a:t>
                      </a:r>
                    </a:p>
                    <a:p>
                      <a:r>
                        <a:rPr lang="en-US" sz="1000" dirty="0" smtClean="0"/>
                        <a:t>Article 111023</a:t>
                      </a:r>
                    </a:p>
                    <a:p>
                      <a:r>
                        <a:rPr lang="en-US" sz="1000" dirty="0" smtClean="0"/>
                        <a:t>Published February 2025</a:t>
                      </a:r>
                      <a:endParaRPr lang="en-US" sz="1000" dirty="0"/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Q1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Reviewed existing research on </a:t>
                      </a:r>
                      <a:r>
                        <a:rPr lang="en-US" sz="1000" b="1" dirty="0" smtClean="0"/>
                        <a:t>Federated Learning for Intrusion Detection Systems</a:t>
                      </a:r>
                      <a:r>
                        <a:rPr lang="en-US" sz="10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Studied different </a:t>
                      </a:r>
                      <a:r>
                        <a:rPr lang="en-US" sz="1000" b="1" dirty="0" smtClean="0"/>
                        <a:t>FL architectures, IDS models and datasets</a:t>
                      </a:r>
                      <a:r>
                        <a:rPr lang="en-US" sz="10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Identified common challenges such as </a:t>
                      </a:r>
                      <a:r>
                        <a:rPr lang="en-US" sz="1000" b="1" dirty="0" smtClean="0"/>
                        <a:t>Non-IID data, privacy, communication cost and scalability</a:t>
                      </a:r>
                      <a:r>
                        <a:rPr lang="en-US" sz="10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Shows that FL can reduce the need to </a:t>
                      </a:r>
                      <a:r>
                        <a:rPr lang="en-US" sz="1000" b="1" dirty="0" smtClean="0"/>
                        <a:t>share raw data</a:t>
                      </a:r>
                      <a:r>
                        <a:rPr lang="en-US" sz="1000" dirty="0" smtClean="0"/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dirty="0" smtClean="0"/>
                        <a:t>Helps identify </a:t>
                      </a:r>
                      <a:r>
                        <a:rPr lang="en-US" sz="1000" b="1" dirty="0" smtClean="0"/>
                        <a:t>research gaps</a:t>
                      </a:r>
                      <a:r>
                        <a:rPr lang="en-US" sz="1000" dirty="0" smtClean="0"/>
                        <a:t> in FL-based IDS. </a:t>
                      </a:r>
                    </a:p>
                    <a:p>
                      <a:pPr>
                        <a:lnSpc>
                          <a:spcPct val="100000"/>
                        </a:lnSpc>
                        <a:buFont typeface="Arial" pitchFamily="34" charset="0"/>
                        <a:buChar char="•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000" b="1" dirty="0" smtClean="0"/>
                        <a:t>Relation to our project:</a:t>
                      </a:r>
                      <a:r>
                        <a:rPr lang="en-US" sz="1000" dirty="0" smtClean="0"/>
                        <a:t> This review helps us identify the gap of applying privacy-preserving FL specifically to </a:t>
                      </a:r>
                      <a:r>
                        <a:rPr lang="en-US" sz="1000" b="1" dirty="0" smtClean="0"/>
                        <a:t>EV Battery Management System security</a:t>
                      </a:r>
                      <a:r>
                        <a:rPr lang="en-US" sz="1000" dirty="0" smtClean="0"/>
                        <a:t>.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691680" y="260648"/>
            <a:ext cx="5770984" cy="34636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Module description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7544" y="764704"/>
            <a:ext cx="8229600" cy="561662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b="1" dirty="0" smtClean="0"/>
              <a:t>Module 1 — Data Preprocessing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Clean CICIoT2023 / N-</a:t>
            </a:r>
            <a:r>
              <a:rPr lang="en-US" dirty="0" err="1" smtClean="0"/>
              <a:t>BaIoT</a:t>
            </a:r>
            <a:r>
              <a:rPr lang="en-US" dirty="0" smtClean="0"/>
              <a:t> data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Handle missing/duplicate values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Encode attack labels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Feature selection/scaling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Partition data among clients </a:t>
            </a:r>
          </a:p>
          <a:p>
            <a:r>
              <a:rPr lang="en-US" b="1" dirty="0" smtClean="0"/>
              <a:t>Module 2 — Client Simulation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Simulate multiple EV fleet clients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Each client gets its own local dataset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Create different/Non-IID data distributions </a:t>
            </a:r>
          </a:p>
          <a:p>
            <a:r>
              <a:rPr lang="en-US" b="1" dirty="0" smtClean="0"/>
              <a:t>Module 3 — Local IDS Training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Train </a:t>
            </a:r>
            <a:r>
              <a:rPr lang="en-US" b="1" dirty="0" smtClean="0"/>
              <a:t>Random Forest</a:t>
            </a:r>
            <a:r>
              <a:rPr lang="en-US" dirty="0" smtClean="0"/>
              <a:t> locally at each client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Raw data stays at the client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Generate local intrusion predictions </a:t>
            </a:r>
          </a:p>
          <a:p>
            <a:r>
              <a:rPr lang="en-US" b="1" dirty="0" smtClean="0"/>
              <a:t>Module 4 — Federated Aggregation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Send model parameters/updates instead of raw data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Use </a:t>
            </a:r>
            <a:r>
              <a:rPr lang="en-US" b="1" dirty="0" err="1" smtClean="0"/>
              <a:t>FedAvg</a:t>
            </a:r>
            <a:r>
              <a:rPr lang="en-US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Generate the global IDS model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Repeat for multiple communication rounds </a:t>
            </a:r>
          </a:p>
        </p:txBody>
      </p:sp>
      <p:sp>
        <p:nvSpPr>
          <p:cNvPr id="54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 Computer Applications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0B6741D-B2D0-49C9-BE10-86CABE8BAE61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Arial"/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332654"/>
            <a:ext cx="80648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Module 5 — Privacy Protection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Keep raw client data local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Apply </a:t>
            </a:r>
            <a:r>
              <a:rPr lang="en-US" b="1" dirty="0" smtClean="0"/>
              <a:t>update clipping</a:t>
            </a:r>
            <a:r>
              <a:rPr lang="en-US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Add </a:t>
            </a:r>
            <a:r>
              <a:rPr lang="en-US" b="1" dirty="0" smtClean="0"/>
              <a:t>Differential Privacy (DP)</a:t>
            </a:r>
            <a:r>
              <a:rPr lang="en-US" dirty="0" smtClean="0"/>
              <a:t> noise to model updates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Prevent unnecessary exposure of client information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Analyze the privacy–accuracy trade-off </a:t>
            </a:r>
          </a:p>
          <a:p>
            <a:r>
              <a:rPr lang="en-US" b="1" dirty="0" smtClean="0"/>
              <a:t>Module 6 — Explainable AI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Use </a:t>
            </a:r>
            <a:r>
              <a:rPr lang="en-US" b="1" dirty="0" smtClean="0"/>
              <a:t>SHAP</a:t>
            </a:r>
            <a:r>
              <a:rPr lang="en-US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Explain individual intrusion predictions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Identify important network features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Generate global feature-importance summaries </a:t>
            </a:r>
          </a:p>
          <a:p>
            <a:r>
              <a:rPr lang="en-US" b="1" dirty="0" smtClean="0"/>
              <a:t>Module 7 — Evaluation &amp; Dashboard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Centralized </a:t>
            </a:r>
            <a:r>
              <a:rPr lang="en-US" dirty="0" err="1" smtClean="0"/>
              <a:t>vs</a:t>
            </a:r>
            <a:r>
              <a:rPr lang="en-US" dirty="0" smtClean="0"/>
              <a:t> Local </a:t>
            </a:r>
            <a:r>
              <a:rPr lang="en-US" dirty="0" err="1" smtClean="0"/>
              <a:t>vs</a:t>
            </a:r>
            <a:r>
              <a:rPr lang="en-US" dirty="0" smtClean="0"/>
              <a:t> Federated comparison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Accuracy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Precision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Recall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F1-score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Privacy/utility analysis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SHAP explanations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MERN-based intrusion dashboard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ock diagram.png"/>
          <p:cNvPicPr>
            <a:picLocks noChangeAspect="1"/>
          </p:cNvPicPr>
          <p:nvPr/>
        </p:nvPicPr>
        <p:blipFill>
          <a:blip r:embed="rId2" cstate="print"/>
          <a:srcRect t="9838"/>
          <a:stretch>
            <a:fillRect/>
          </a:stretch>
        </p:blipFill>
        <p:spPr>
          <a:xfrm>
            <a:off x="0" y="980728"/>
            <a:ext cx="9144000" cy="54962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1800" y="40466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BLOCK</a:t>
            </a:r>
            <a:r>
              <a:rPr lang="en-US" dirty="0" smtClean="0"/>
              <a:t> </a:t>
            </a:r>
            <a:r>
              <a:rPr lang="en-US" b="1" dirty="0" smtClean="0"/>
              <a:t>DIAGRAM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Expected </a:t>
            </a:r>
            <a:r>
              <a:rPr lang="en-US" sz="4400" b="0" strike="noStrike" spc="-1" dirty="0" smtClean="0">
                <a:solidFill>
                  <a:srgbClr val="000000"/>
                </a:solidFill>
                <a:latin typeface="Calibri"/>
              </a:rPr>
              <a:t>Outcome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" y="1196752"/>
            <a:ext cx="8229600" cy="511256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 lnSpcReduction="20000"/>
          </a:bodyPr>
          <a:lstStyle/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dirty="0" smtClean="0"/>
              <a:t>Working Federated IDS Prototype</a:t>
            </a:r>
            <a:r>
              <a:rPr lang="en-US" sz="2800" dirty="0" smtClean="0"/>
              <a:t> for detecting intrusion in BMS/</a:t>
            </a:r>
            <a:r>
              <a:rPr lang="en-US" sz="2800" dirty="0" err="1" smtClean="0"/>
              <a:t>IoT</a:t>
            </a:r>
            <a:r>
              <a:rPr lang="en-US" sz="2800" dirty="0" smtClean="0"/>
              <a:t> network traffic. 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dirty="0" smtClean="0"/>
              <a:t>Privacy-Preserving Training</a:t>
            </a:r>
            <a:r>
              <a:rPr lang="en-US" sz="2800" dirty="0" smtClean="0"/>
              <a:t> by keeping raw client data local and protecting model updates using update clipping and Differential Privacy. 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dirty="0" smtClean="0"/>
              <a:t>Explainable Intrusion Detection</a:t>
            </a:r>
            <a:r>
              <a:rPr lang="en-US" sz="2800" dirty="0" smtClean="0"/>
              <a:t> using SHAP to identify the important features behind each prediction. 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dirty="0" smtClean="0"/>
              <a:t>Performance Comparison</a:t>
            </a:r>
            <a:r>
              <a:rPr lang="en-US" sz="2800" dirty="0" smtClean="0"/>
              <a:t> of centralized, local, federated, and privacy-preserving federated models. 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dirty="0" smtClean="0"/>
              <a:t>Privacy–Utility Analysis</a:t>
            </a:r>
            <a:r>
              <a:rPr lang="en-US" sz="2800" dirty="0" smtClean="0"/>
              <a:t> to study the effect of privacy protection on detection performance. 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dirty="0" smtClean="0"/>
              <a:t>Improved Intrusion Detection Transparency</a:t>
            </a:r>
            <a:r>
              <a:rPr lang="en-US" sz="2800" dirty="0" smtClean="0"/>
              <a:t> by showing why a particular network activity was classified as an attack. 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dirty="0" smtClean="0"/>
              <a:t>MERN-Based Dashboard</a:t>
            </a:r>
            <a:r>
              <a:rPr lang="en-US" sz="2800" dirty="0" smtClean="0"/>
              <a:t> displaying fleet-wise intrusion alerts, attack details, and SHAP-based explanations. 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dirty="0" smtClean="0"/>
              <a:t>Research Findings</a:t>
            </a:r>
            <a:r>
              <a:rPr lang="en-US" sz="2800" dirty="0" smtClean="0"/>
              <a:t> on the effectiveness, privacy, </a:t>
            </a:r>
            <a:r>
              <a:rPr lang="en-US" sz="2800" dirty="0" err="1" smtClean="0"/>
              <a:t>explainability</a:t>
            </a:r>
            <a:r>
              <a:rPr lang="en-US" sz="2800" dirty="0" smtClean="0"/>
              <a:t>, and limitations of FL-based IDS for BMS environments.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Footer Placeholder 4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Department of  Computer Applications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lide Number Placeholder 5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E016974-87A4-48C9-8F5A-1C7F1F44A158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Arial"/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2322</TotalTime>
  <Words>1285</Words>
  <Application>Microsoft Office PowerPoint</Application>
  <PresentationFormat>On-screen Show (4:3)</PresentationFormat>
  <Paragraphs>155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</vt:lpstr>
      <vt:lpstr>A Federated Learning Framework for Explainable and Privacy-Preserving Intrusion Detection in Battery Management Systems</vt:lpstr>
      <vt:lpstr>Research area identified</vt:lpstr>
      <vt:lpstr>Problem Statement</vt:lpstr>
      <vt:lpstr>Objectives</vt:lpstr>
      <vt:lpstr>Tools and Technologies used</vt:lpstr>
      <vt:lpstr>Literature survey (5 Recent Papers)</vt:lpstr>
      <vt:lpstr>Slide 7</vt:lpstr>
      <vt:lpstr>Module description</vt:lpstr>
      <vt:lpstr>Slide 9</vt:lpstr>
      <vt:lpstr>Slide 10</vt:lpstr>
      <vt:lpstr>Expected Outcome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Federated Learning Framework for Privacy-Preserving Intrusion Detection in Battery Management Systems</dc:title>
  <dc:creator>reema afrin</dc:creator>
  <cp:lastModifiedBy>reema afrin</cp:lastModifiedBy>
  <cp:revision>20</cp:revision>
  <dcterms:modified xsi:type="dcterms:W3CDTF">2026-08-24T18:52:58Z</dcterms:modified>
</cp:coreProperties>
</file>

<file path=docProps/core1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2019-12-24T09:10:42Z</dcterms:created>
  <dc:creator>admin</dc:creator>
  <dc:description/>
  <dc:language>en-US</dc:language>
  <cp:lastModifiedBy>Admin</cp:lastModifiedBy>
  <dcterms:modified xsi:type="dcterms:W3CDTF">2026-07-31T04:03:45Z</dcterms:modified>
  <cp:revision>117</cp:revision>
  <dc:subject/>
  <dc:title>PowerPoint Presentation</dc:title>
</cp:coreProperties>
</file>